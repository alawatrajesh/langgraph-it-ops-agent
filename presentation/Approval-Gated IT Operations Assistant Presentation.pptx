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7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Relationship Id="rId19" Type="http://schemas.openxmlformats.org/officeDocument/2006/relationships/image" Target="../media/image43.png"/><Relationship Id="rId20" Type="http://schemas.openxmlformats.org/officeDocument/2006/relationships/image" Target="../media/image44.png"/><Relationship Id="rId21" Type="http://schemas.openxmlformats.org/officeDocument/2006/relationships/image" Target="../media/image45.png"/><Relationship Id="rId22" Type="http://schemas.openxmlformats.org/officeDocument/2006/relationships/image" Target="../media/image46.png"/><Relationship Id="rId23" Type="http://schemas.openxmlformats.org/officeDocument/2006/relationships/image" Target="../media/image47.png"/><Relationship Id="rId24" Type="http://schemas.openxmlformats.org/officeDocument/2006/relationships/image" Target="../media/image48.png"/><Relationship Id="rId25" Type="http://schemas.openxmlformats.org/officeDocument/2006/relationships/image" Target="../media/image4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7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7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086225"/>
            <a:ext cx="11239500" cy="590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981575"/>
            <a:ext cx="11239500" cy="50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028825"/>
            <a:ext cx="5448300" cy="1866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450" y="2028825"/>
            <a:ext cx="5448300" cy="1866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19100"/>
            <a:ext cx="11239500" cy="1381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723900"/>
            <a:ext cx="110013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Inter"/>
              </a:rPr>
              <a:t>Approval-Gated IT Operations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238250"/>
            <a:ext cx="10477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Safe, deterministic IT operations workflow using LangGraph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6524625"/>
            <a:ext cx="2133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Approval-Gated IT Operations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3625" y="6524625"/>
            <a:ext cx="17621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Python + LangGraph StateGraph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286250"/>
            <a:ext cx="10515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 SemiBold"/>
              </a:rPr>
              <a:t>Safety Guarantee: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All operations utilize synthetic data and mocked tools only. Zero production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5143500"/>
            <a:ext cx="9239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Inter SemiBold"/>
              </a:rPr>
              <a:t>User Request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3884" y="5167312"/>
            <a:ext cx="85725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69468" y="5143500"/>
            <a:ext cx="6858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Inter SemiBold"/>
              </a:rPr>
              <a:t>Validation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6528" y="5167312"/>
            <a:ext cx="85725" cy="133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57837" y="5143500"/>
            <a:ext cx="11620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D97706"/>
                </a:solidFill>
                <a:latin typeface="Inter SemiBold"/>
              </a:rPr>
              <a:t>Human Approval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1146" y="5167312"/>
            <a:ext cx="85725" cy="133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74831" y="5143500"/>
            <a:ext cx="10477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DC2626"/>
                </a:solidFill>
                <a:latin typeface="Inter SemiBold"/>
              </a:rPr>
              <a:t>Safe Execution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3840" y="5167312"/>
            <a:ext cx="85725" cy="1333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77525" y="5143500"/>
            <a:ext cx="8001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16A34A"/>
                </a:solidFill>
                <a:latin typeface="Inter SemiBold"/>
              </a:rP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2228850"/>
            <a:ext cx="5190648" cy="22860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C2626"/>
                </a:solidFill>
                <a:latin typeface="Inter"/>
              </a:rPr>
              <a:t>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2552700"/>
            <a:ext cx="49434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Operational actions such as service restarts can be highly risky when executed without strict validation, authorization controls, and mandatory human oversight. Autonomous LLMs acting directly on infrastructure introduce non-deterministic hazards.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4150" y="2228850"/>
            <a:ext cx="5190648" cy="22860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A34A"/>
                </a:solidFill>
                <a:latin typeface="Inter"/>
              </a:rPr>
              <a:t>Solution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4295775"/>
            <a:ext cx="152400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" y="5148262"/>
            <a:ext cx="219075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40868" y="5148262"/>
            <a:ext cx="13335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43512" y="5148262"/>
            <a:ext cx="219075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8131" y="5148262"/>
            <a:ext cx="17145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10825" y="5148262"/>
            <a:ext cx="17145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950" y="2247900"/>
            <a:ext cx="19050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34150" y="2247900"/>
            <a:ext cx="19050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19875" y="255270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5600" y="2552700"/>
            <a:ext cx="4772025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Deterministic validation &amp; permission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9875" y="28384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5600" y="2838450"/>
            <a:ext cx="4772025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Context retrieval &amp; execution planning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9875" y="312420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5600" y="3124200"/>
            <a:ext cx="4772025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Human approval gate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before high-impact operations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9875" y="34099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600" y="3409950"/>
            <a:ext cx="4772025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Mocked execution &amp; post-action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038225"/>
            <a:ext cx="7391400" cy="5048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038225"/>
            <a:ext cx="3619500" cy="21193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309937"/>
            <a:ext cx="3619500" cy="1266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0730" y="490537"/>
            <a:ext cx="1585019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6524625"/>
            <a:ext cx="2133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Approval-Gated IT Operations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3625" y="6524625"/>
            <a:ext cx="17621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Python + LangGraph StateGraph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729162"/>
            <a:ext cx="3619500" cy="628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3875" y="1047750"/>
            <a:ext cx="7372350" cy="5029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2950" y="1238250"/>
            <a:ext cx="327040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Inter"/>
              </a:rPr>
              <a:t>Core StateGraph Mechanics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504950"/>
            <a:ext cx="311467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• </a:t>
            </a:r>
            <a:r>
              <a:rPr b="1" sz="975" i="0" u="none">
                <a:solidFill>
                  <a:srgbClr val="334155"/>
                </a:solidFill>
                <a:latin typeface="Inter"/>
              </a:rPr>
              <a:t>Nodes: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Represent explicit workflow stages (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intake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, 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validation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, 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planning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, 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approval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, 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execution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, 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verification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138362"/>
            <a:ext cx="31146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• </a:t>
            </a:r>
            <a:r>
              <a:rPr b="1" sz="975" i="0" u="none">
                <a:solidFill>
                  <a:srgbClr val="334155"/>
                </a:solidFill>
                <a:latin typeface="Inter"/>
              </a:rPr>
              <a:t>Conditional Edges: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Control safe routing (e.g., rejection paths, health-check shortcuts).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586037"/>
            <a:ext cx="31146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• </a:t>
            </a:r>
            <a:r>
              <a:rPr b="1" sz="975" i="0" u="none">
                <a:solidFill>
                  <a:srgbClr val="334155"/>
                </a:solidFill>
                <a:latin typeface="Inter"/>
              </a:rPr>
              <a:t>AgentState: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Immutable context carrying request details, status, and audit traces across nodes.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509962"/>
            <a:ext cx="3270408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Tools Layer &amp;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" y="4891087"/>
            <a:ext cx="3048000" cy="33337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91B1B"/>
                </a:solidFill>
                <a:latin typeface="Inter Medium"/>
              </a:rPr>
              <a:t>Branching paths immediately terminate execution on invalid input, permission failure, or human rejection.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" y="4910137"/>
            <a:ext cx="114300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3781425"/>
            <a:ext cx="142875" cy="1238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2025" y="3767137"/>
            <a:ext cx="2819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0000"/>
                </a:solidFill>
                <a:latin typeface="Inter"/>
              </a:rPr>
              <a:t>Context Tool:</a:t>
            </a:r>
            <a:r>
              <a:rPr b="0" sz="975" i="0" u="none">
                <a:solidFill>
                  <a:srgbClr val="000000"/>
                </a:solidFill>
                <a:latin typeface="Inter"/>
              </a:rPr>
              <a:t> Read-only synthetic info retrieval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4010025"/>
            <a:ext cx="123825" cy="1238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2975" y="3995737"/>
            <a:ext cx="2628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0000"/>
                </a:solidFill>
                <a:latin typeface="Inter"/>
              </a:rPr>
              <a:t>Action Tool:</a:t>
            </a:r>
            <a:r>
              <a:rPr b="0" sz="975" i="0" u="none">
                <a:solidFill>
                  <a:srgbClr val="000000"/>
                </a:solidFill>
                <a:latin typeface="Inter"/>
              </a:rPr>
              <a:t> Mocked service restart handler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4238625"/>
            <a:ext cx="104775" cy="1238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925" y="4224337"/>
            <a:ext cx="2038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0000"/>
                </a:solidFill>
                <a:latin typeface="Inter"/>
              </a:rPr>
              <a:t>Data Store:</a:t>
            </a:r>
            <a:r>
              <a:rPr b="0" sz="975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975" i="0" u="none">
                <a:solidFill>
                  <a:srgbClr val="000000"/>
                </a:solidFill>
                <a:latin typeface="Inter"/>
              </a:rPr>
              <a:t>data/services.json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50" y="419100"/>
            <a:ext cx="1123950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Inter"/>
              </a:rPr>
              <a:t>LangGraph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38225"/>
            <a:ext cx="112395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190625"/>
            <a:ext cx="923925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2625" y="1190625"/>
            <a:ext cx="9810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5650" y="1190625"/>
            <a:ext cx="15049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2550" y="1190625"/>
            <a:ext cx="14478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2300" y="1190625"/>
            <a:ext cx="135255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0" y="1190625"/>
            <a:ext cx="139065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9400" y="1190625"/>
            <a:ext cx="108585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1838325"/>
            <a:ext cx="5505450" cy="2876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838325"/>
            <a:ext cx="5505450" cy="2876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26253" y="495300"/>
            <a:ext cx="1689496" cy="238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6524625"/>
            <a:ext cx="2133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Approval-Gated IT Operations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3625" y="6524625"/>
            <a:ext cx="17621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Python + LangGraph StateGraph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40553" y="552450"/>
            <a:ext cx="126950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19262" y="1266825"/>
            <a:ext cx="104775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62287" y="1266825"/>
            <a:ext cx="104775" cy="1143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29187" y="1266825"/>
            <a:ext cx="1047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38937" y="1266825"/>
            <a:ext cx="10477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3437" y="1266825"/>
            <a:ext cx="1047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06037" y="1266825"/>
            <a:ext cx="104775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1050" y="1262062"/>
            <a:ext cx="12382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66925" y="1262062"/>
            <a:ext cx="10477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09950" y="1262062"/>
            <a:ext cx="123825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76850" y="1262062"/>
            <a:ext cx="152400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86600" y="1262062"/>
            <a:ext cx="12382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01100" y="1262062"/>
            <a:ext cx="123825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53700" y="1262062"/>
            <a:ext cx="104775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9650" y="2066925"/>
            <a:ext cx="4970621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B45309"/>
                </a:solidFill>
                <a:latin typeface="Inter"/>
              </a:rPr>
              <a:t>Human Approval &amp; Defense-in-Depth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6075" y="2066925"/>
            <a:ext cx="5020627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D4ED8"/>
                </a:solidFill>
                <a:latin typeface="Inter"/>
              </a:rPr>
              <a:t>Deterministic Controls &amp; Error Handling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4375" y="2081212"/>
            <a:ext cx="219075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19150" y="23812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875" y="2381250"/>
            <a:ext cx="48387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Mandatory Approval Gate: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Service restart actions strictly cannot proceed without explicit human approval token.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150" y="29146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4875" y="2914650"/>
            <a:ext cx="48387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Graph Routing Enforcement: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Conditional edges bypass execution entirely if approval status is rejected.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150" y="34480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875" y="3448050"/>
            <a:ext cx="4838700" cy="6858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Defense-in-Depth: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execution_node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performs an independent internal re-verification of human approval state prior to invoking tools.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48425" y="2081212"/>
            <a:ext cx="171450" cy="1714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53200" y="23812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8925" y="2381250"/>
            <a:ext cx="48387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Deterministic RBAC: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Permission decisions rely on strict rules, avoiding non-deterministic LLM evaluation for access.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3200" y="29146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38925" y="2914650"/>
            <a:ext cx="48387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Duplicate Protection: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Prevents repeated action submission via request idempotency tracking.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3200" y="34480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38925" y="3448050"/>
            <a:ext cx="48387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Fail-Safe Execution: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Tool failures and timeouts trigger immediate transition to 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Final Status = Failed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3200" y="39814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38925" y="3981450"/>
            <a:ext cx="48387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Post-Action Verification: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Automatic post-execution health check confirms state before declaring success.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6250" y="419100"/>
            <a:ext cx="1123950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Inter"/>
              </a:rPr>
              <a:t>Safety &amp; Reliability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562350"/>
            <a:ext cx="5448300" cy="771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371600"/>
            <a:ext cx="5448300" cy="9371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423070"/>
            <a:ext cx="5448300" cy="376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4347" y="495300"/>
            <a:ext cx="2171402" cy="238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6524625"/>
            <a:ext cx="2133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Approval-Gated IT Operations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3625" y="6524625"/>
            <a:ext cx="17621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Python + LangGraph StateGraph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8647" y="552450"/>
            <a:ext cx="12695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1038225"/>
            <a:ext cx="5720715" cy="200025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Automated Test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7450" y="1038225"/>
            <a:ext cx="5720715" cy="200025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Structured Trace in AgentState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1057275"/>
            <a:ext cx="171450" cy="17145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76250" y="1371600"/>
            <a:ext cx="2676525" cy="438150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1466850"/>
            <a:ext cx="21812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 Medium"/>
              </a:rPr>
              <a:t>Happy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8025" y="1371600"/>
            <a:ext cx="2676525" cy="438150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9975" y="1466850"/>
            <a:ext cx="21812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 Medium"/>
              </a:rPr>
              <a:t>Approval Rejection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6250" y="1905000"/>
            <a:ext cx="2676525" cy="438150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" y="2000250"/>
            <a:ext cx="21812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 Medium"/>
              </a:rPr>
              <a:t>Invalid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8025" y="1905000"/>
            <a:ext cx="2676525" cy="438150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9975" y="2000250"/>
            <a:ext cx="21812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 Medium"/>
              </a:rPr>
              <a:t>Permission Failure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250" y="2438400"/>
            <a:ext cx="2676525" cy="438150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2533650"/>
            <a:ext cx="21812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 Medium"/>
              </a:rPr>
              <a:t>Duplicate Request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8025" y="2438400"/>
            <a:ext cx="2676525" cy="438150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9975" y="2533650"/>
            <a:ext cx="21812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 Medium"/>
              </a:rPr>
              <a:t>Tool Failure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6250" y="2971800"/>
            <a:ext cx="2676525" cy="438150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00" y="3067050"/>
            <a:ext cx="21812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 Medium"/>
              </a:rPr>
              <a:t>Timeout Handling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8025" y="2971800"/>
            <a:ext cx="2676525" cy="438150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9975" y="3067050"/>
            <a:ext cx="21812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 Medium"/>
              </a:rPr>
              <a:t>Missing Approval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4375" y="3762375"/>
            <a:ext cx="49720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0F172A"/>
                </a:solidFill>
                <a:latin typeface="Inter"/>
              </a:rPr>
              <a:t>Comprehensive Validation:</a:t>
            </a:r>
            <a:r>
              <a:rPr b="0" sz="975" i="0" u="none">
                <a:solidFill>
                  <a:srgbClr val="475569"/>
                </a:solidFill>
                <a:latin typeface="Inter"/>
              </a:rPr>
              <a:t> Tests cover every graph branch, conditional edge, error edge case, and defense-in-depth safety assertion.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7450" y="1057275"/>
            <a:ext cx="171450" cy="171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38900" y="2518320"/>
            <a:ext cx="51435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0369A1"/>
                </a:solidFill>
                <a:latin typeface="Inter Medium"/>
              </a:rPr>
              <a:t>"Every workflow stage records structured audit events for full end-to-end traceability."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6250" y="1800225"/>
            <a:ext cx="2676525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48025" y="1800225"/>
            <a:ext cx="2676525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6250" y="2333625"/>
            <a:ext cx="2676525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8025" y="2333625"/>
            <a:ext cx="2676525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6250" y="2867025"/>
            <a:ext cx="2676525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48025" y="2867025"/>
            <a:ext cx="2676525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6250" y="3400425"/>
            <a:ext cx="2676525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48025" y="3400425"/>
            <a:ext cx="2676525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1514475"/>
            <a:ext cx="13335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0900" y="1514475"/>
            <a:ext cx="13335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2047875"/>
            <a:ext cx="133350" cy="152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0900" y="2047875"/>
            <a:ext cx="133350" cy="152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2581275"/>
            <a:ext cx="133350" cy="152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0900" y="2581275"/>
            <a:ext cx="133350" cy="152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3114675"/>
            <a:ext cx="133350" cy="1524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0900" y="3114675"/>
            <a:ext cx="133350" cy="1524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76250" y="419100"/>
            <a:ext cx="1123950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Inter"/>
              </a:rPr>
              <a:t>Testing &amp;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629025"/>
            <a:ext cx="112395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038225"/>
            <a:ext cx="5448300" cy="2400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1038225"/>
            <a:ext cx="5448300" cy="2400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7478" y="514350"/>
            <a:ext cx="1648271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6524625"/>
            <a:ext cx="2133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Approval-Gated IT Operations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3625" y="6524625"/>
            <a:ext cx="17621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Python + LangGraph StateGraph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3781425"/>
            <a:ext cx="10820400" cy="22860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E40AF"/>
                </a:solidFill>
                <a:latin typeface="Inter SemiBold"/>
              </a:rPr>
              <a:t>Core Design Principle: Automation should accelerate operations without bypassing human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1266825"/>
            <a:ext cx="4910613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B45309"/>
                </a:solidFill>
                <a:latin typeface="Inter"/>
              </a:rPr>
              <a:t>Design Trade-offs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3225" y="1266825"/>
            <a:ext cx="496062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D4ED8"/>
                </a:solidFill>
                <a:latin typeface="Inter"/>
              </a:rPr>
              <a:t>Production Roadmap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381952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1281112"/>
            <a:ext cx="219075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15811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1581150"/>
            <a:ext cx="48006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Safety over Autonomy: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Deterministic routing prioritizes predictability over autonomous decision-making.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21145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2114550"/>
            <a:ext cx="48006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Human Friction: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Mandatory approval adds operational delay but significantly mitigates outage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26479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647950"/>
            <a:ext cx="480060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Mocked Scope: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Uses synthetic data and mocked tools to ensure safety during assessment without touching production infra.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575" y="1281112"/>
            <a:ext cx="17145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91300" y="15811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7025" y="1581150"/>
            <a:ext cx="4800600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• Persistent LangGraph Checkpoints &amp; State 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1300" y="186690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7025" y="1866900"/>
            <a:ext cx="4800600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• Production AuthN/AuthZ (OAuth2 / OIDC + SAML)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1300" y="21526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7025" y="2152650"/>
            <a:ext cx="4800600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• OpenTelemetry &amp; Datadog observability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1300" y="243840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7025" y="2438400"/>
            <a:ext cx="4800600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• Secure LLM / AWS Bedrock adapter for query parsing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1300" y="27241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7025" y="2724150"/>
            <a:ext cx="4800600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• Automated retry policies &amp; durable idempotency 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1300" y="300990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7025" y="3009900"/>
            <a:ext cx="4800600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• Direct integration with ServiceNow / PagerDuty / Kubernetes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250" y="419100"/>
            <a:ext cx="1123950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Inter"/>
              </a:rPr>
              <a:t>Trade-offs &amp; Future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